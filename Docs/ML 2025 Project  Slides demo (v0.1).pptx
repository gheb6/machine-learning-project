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3df5fa832_2_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b3df5fa832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3df5fa832_2_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b3df5fa832_2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3df5fa832_2_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b3df5fa832_2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3df5fa832_2_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b3df5fa832_2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3df5fa832_2_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b3df5fa832_2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3df5fa832_2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b3df5fa832_2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3df5fa832_2_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b3df5fa832_2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3df5fa832_2_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b3df5fa832_2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3df5fa832_2_1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b3df5fa832_2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3df5fa832_2_1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b3df5fa832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3df5fa832_2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b3df5fa832_2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3df5fa832_2_1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b3df5fa832_2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3df5fa832_2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b3df5fa832_2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311700" y="428525"/>
            <a:ext cx="8520600" cy="13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it"/>
              <a:t>ML 2025 Project 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t"/>
              <a:t> </a:t>
            </a:r>
            <a:endParaRPr/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311700" y="1561525"/>
            <a:ext cx="8416200" cy="25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it" sz="1520">
                <a:solidFill>
                  <a:schemeClr val="dk1"/>
                </a:solidFill>
              </a:rPr>
              <a:t>Gabriele Righi, Edoardo Fiaschi</a:t>
            </a:r>
            <a:endParaRPr sz="152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it" sz="1520">
                <a:solidFill>
                  <a:schemeClr val="dk1"/>
                </a:solidFill>
              </a:rPr>
              <a:t>Team name</a:t>
            </a:r>
            <a:br>
              <a:rPr lang="it" sz="1520">
                <a:solidFill>
                  <a:schemeClr val="dk1"/>
                </a:solidFill>
              </a:rPr>
            </a:br>
            <a:r>
              <a:rPr lang="it" sz="1520">
                <a:solidFill>
                  <a:schemeClr val="dk1"/>
                </a:solidFill>
              </a:rPr>
              <a:t> Computer science (AI curriculum)</a:t>
            </a:r>
            <a:endParaRPr sz="152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it" sz="1520">
                <a:solidFill>
                  <a:schemeClr val="dk1"/>
                </a:solidFill>
              </a:rPr>
              <a:t>g.righi7@studenti.unipi.it</a:t>
            </a:r>
            <a:r>
              <a:rPr lang="it" sz="1253">
                <a:solidFill>
                  <a:schemeClr val="dk1"/>
                </a:solidFill>
              </a:rPr>
              <a:t> </a:t>
            </a:r>
            <a:endParaRPr sz="1253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1933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it" sz="1520">
                <a:solidFill>
                  <a:schemeClr val="dk1"/>
                </a:solidFill>
              </a:rPr>
              <a:t>15/01/2026</a:t>
            </a:r>
            <a:endParaRPr b="1"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520">
                <a:solidFill>
                  <a:schemeClr val="dk1"/>
                </a:solidFill>
              </a:rPr>
              <a:t>Type of project: </a:t>
            </a:r>
            <a:r>
              <a:rPr b="1" lang="it" sz="1520">
                <a:solidFill>
                  <a:schemeClr val="dk1"/>
                </a:solidFill>
              </a:rPr>
              <a:t>B</a:t>
            </a:r>
            <a:endParaRPr b="1" sz="152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b="1"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1" name="Google Shape;10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57525" y="51773"/>
            <a:ext cx="889425" cy="912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7253725" y="2340900"/>
            <a:ext cx="72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5"/>
          <p:cNvSpPr/>
          <p:nvPr/>
        </p:nvSpPr>
        <p:spPr>
          <a:xfrm>
            <a:off x="6675175" y="2457450"/>
            <a:ext cx="1884900" cy="861900"/>
          </a:xfrm>
          <a:prstGeom prst="wedgeRoundRectCallout">
            <a:avLst>
              <a:gd fmla="val -100826" name="adj1"/>
              <a:gd fmla="val -1207" name="adj2"/>
              <a:gd fmla="val 0" name="adj3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5"/>
          <p:cNvSpPr txBox="1"/>
          <p:nvPr/>
        </p:nvSpPr>
        <p:spPr>
          <a:xfrm>
            <a:off x="6804625" y="2479675"/>
            <a:ext cx="1626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it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Use your surnames also for this file name: see the slides of PRJ lecture</a:t>
            </a:r>
            <a:endParaRPr b="0" i="0" sz="1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t"/>
              <a:t>Objectives</a:t>
            </a:r>
            <a:endParaRPr/>
          </a:p>
        </p:txBody>
      </p:sp>
      <p:sp>
        <p:nvSpPr>
          <p:cNvPr id="110" name="Google Shape;110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76904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Describe/define in this slide your aim (in short): see section 1 of the file “ML-25-Report-info-...” for details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7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7"/>
              <a:buNone/>
            </a:pPr>
            <a:r>
              <a:rPr lang="it">
                <a:solidFill>
                  <a:schemeClr val="dk1"/>
                </a:solidFill>
              </a:rPr>
              <a:t>Slides general notes: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8107"/>
              <a:buChar char="●"/>
            </a:pPr>
            <a:r>
              <a:rPr lang="it" sz="1600">
                <a:solidFill>
                  <a:schemeClr val="dk1"/>
                </a:solidFill>
              </a:rPr>
              <a:t>Read the lecture notes on the PRJ (ML-25-PRJ-...)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7"/>
              <a:buChar char="●"/>
            </a:pPr>
            <a:r>
              <a:rPr lang="it" sz="1600">
                <a:solidFill>
                  <a:schemeClr val="dk1"/>
                </a:solidFill>
              </a:rPr>
              <a:t>Read also the document  “ML-25-Report-info-...” for further info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7"/>
              <a:buChar char="●"/>
            </a:pPr>
            <a:r>
              <a:rPr lang="it" sz="1600">
                <a:solidFill>
                  <a:schemeClr val="dk1"/>
                </a:solidFill>
              </a:rPr>
              <a:t>In particular follow the</a:t>
            </a:r>
            <a:r>
              <a:rPr lang="it" sz="1600">
                <a:solidFill>
                  <a:srgbClr val="FF0000"/>
                </a:solidFill>
              </a:rPr>
              <a:t> [*]</a:t>
            </a:r>
            <a:r>
              <a:rPr lang="it" sz="1600">
                <a:solidFill>
                  <a:schemeClr val="dk1"/>
                </a:solidFill>
              </a:rPr>
              <a:t> sign that denotes “</a:t>
            </a:r>
            <a:r>
              <a:rPr i="1" lang="it" sz="1600">
                <a:solidFill>
                  <a:srgbClr val="FF0000"/>
                </a:solidFill>
              </a:rPr>
              <a:t>Lack of results in this part invalidates the report</a:t>
            </a:r>
            <a:r>
              <a:rPr lang="it" sz="1600">
                <a:solidFill>
                  <a:schemeClr val="dk1"/>
                </a:solidFill>
              </a:rPr>
              <a:t>”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7"/>
              <a:buChar char="●"/>
            </a:pPr>
            <a:r>
              <a:rPr lang="it" sz="1600">
                <a:solidFill>
                  <a:schemeClr val="dk1"/>
                </a:solidFill>
              </a:rPr>
              <a:t>You can change the colors/font of the slides etc according to your preference (within the specified  limits in the lecture)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11" name="Google Shape;11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t"/>
              <a:t>Your contributions (may be more slides, but be schematic)</a:t>
            </a:r>
            <a:endParaRPr/>
          </a:p>
        </p:txBody>
      </p:sp>
      <p:sp>
        <p:nvSpPr>
          <p:cNvPr id="117" name="Google Shape;11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>
                <a:solidFill>
                  <a:schemeClr val="dk1"/>
                </a:solidFill>
              </a:rPr>
              <a:t>Code description, in short </a:t>
            </a:r>
            <a:r>
              <a:rPr lang="it" sz="1600">
                <a:solidFill>
                  <a:schemeClr val="dk1"/>
                </a:solidFill>
              </a:rPr>
              <a:t>(see the file “ML-25-Report-info-...”)</a:t>
            </a:r>
            <a:endParaRPr sz="16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>
                <a:solidFill>
                  <a:schemeClr val="dk1"/>
                </a:solidFill>
              </a:rPr>
              <a:t>Necessary features for the model implementation and the CUP application </a:t>
            </a:r>
            <a:r>
              <a:rPr lang="it" sz="1600">
                <a:solidFill>
                  <a:schemeClr val="dk1"/>
                </a:solidFill>
              </a:rPr>
              <a:t>(see the file “ML-25-Report-info-...”: </a:t>
            </a:r>
            <a:r>
              <a:rPr i="1" lang="it" sz="1600">
                <a:solidFill>
                  <a:schemeClr val="dk1"/>
                </a:solidFill>
              </a:rPr>
              <a:t>check list</a:t>
            </a:r>
            <a:r>
              <a:rPr lang="it" sz="1600">
                <a:solidFill>
                  <a:schemeClr val="dk1"/>
                </a:solidFill>
              </a:rPr>
              <a:t> note, for the CUP application)</a:t>
            </a:r>
            <a:r>
              <a:rPr lang="it">
                <a:solidFill>
                  <a:schemeClr val="dk1"/>
                </a:solidFill>
              </a:rPr>
              <a:t>:</a:t>
            </a:r>
            <a:r>
              <a:rPr lang="it"/>
              <a:t> </a:t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118" name="Google Shape;11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19" name="Google Shape;119;p27"/>
          <p:cNvSpPr txBox="1"/>
          <p:nvPr>
            <p:ph idx="1" type="body"/>
          </p:nvPr>
        </p:nvSpPr>
        <p:spPr>
          <a:xfrm>
            <a:off x="570850" y="2185375"/>
            <a:ext cx="3301800" cy="2449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-"/>
            </a:pPr>
            <a:r>
              <a:rPr lang="it" sz="1200">
                <a:solidFill>
                  <a:srgbClr val="000000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Type of Models/Architecture/s (and numb. of layers for NN)</a:t>
            </a:r>
            <a:endParaRPr sz="1200">
              <a:solidFill>
                <a:srgbClr val="000000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-"/>
            </a:pPr>
            <a:r>
              <a:rPr lang="it" sz="1200">
                <a:solidFill>
                  <a:srgbClr val="000000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Type of activation function/s (NN)</a:t>
            </a:r>
            <a:endParaRPr sz="1200">
              <a:solidFill>
                <a:srgbClr val="000000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-"/>
            </a:pPr>
            <a:r>
              <a:rPr lang="it" sz="1200">
                <a:solidFill>
                  <a:srgbClr val="000000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Type of training algorithm/s</a:t>
            </a:r>
            <a:endParaRPr sz="1200">
              <a:solidFill>
                <a:srgbClr val="000000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-"/>
            </a:pPr>
            <a:r>
              <a:rPr lang="it" sz="1200">
                <a:solidFill>
                  <a:srgbClr val="000000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Batch/on-line/mb</a:t>
            </a:r>
            <a:endParaRPr sz="1200">
              <a:solidFill>
                <a:srgbClr val="000000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7"/>
          <p:cNvSpPr txBox="1"/>
          <p:nvPr>
            <p:ph idx="1" type="body"/>
          </p:nvPr>
        </p:nvSpPr>
        <p:spPr>
          <a:xfrm>
            <a:off x="4216725" y="2161150"/>
            <a:ext cx="3626700" cy="24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-"/>
            </a:pPr>
            <a:r>
              <a:rPr lang="it" sz="12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Initialization of NN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-"/>
            </a:pPr>
            <a:r>
              <a:rPr lang="it" sz="12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Regularization schema/s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-"/>
            </a:pPr>
            <a:r>
              <a:rPr lang="it" sz="12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Stop condition/s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7"/>
          <p:cNvSpPr txBox="1"/>
          <p:nvPr/>
        </p:nvSpPr>
        <p:spPr>
          <a:xfrm>
            <a:off x="1217375" y="4107175"/>
            <a:ext cx="612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Be schematic: facts (by techniques names) and numbers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t"/>
              <a:t>Models Novelties (may be more slides)</a:t>
            </a:r>
            <a:endParaRPr/>
          </a:p>
        </p:txBody>
      </p:sp>
      <p:sp>
        <p:nvSpPr>
          <p:cNvPr id="127" name="Google Shape;12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it">
                <a:solidFill>
                  <a:schemeClr val="dk1"/>
                </a:solidFill>
              </a:rPr>
              <a:t>The </a:t>
            </a:r>
            <a:r>
              <a:rPr b="1" lang="it">
                <a:solidFill>
                  <a:schemeClr val="dk1"/>
                </a:solidFill>
              </a:rPr>
              <a:t>novelties</a:t>
            </a:r>
            <a:r>
              <a:rPr lang="it">
                <a:solidFill>
                  <a:schemeClr val="dk1"/>
                </a:solidFill>
              </a:rPr>
              <a:t> in your model/approach/techniques/implementation (if any) outside the standard approaches (i.e. beyond  the necessary features/ordinary techniques specified in the previous slide). </a:t>
            </a:r>
            <a:endParaRPr/>
          </a:p>
          <a:p>
            <a:pPr indent="-285750" lvl="1" marL="74295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Char char="○"/>
            </a:pPr>
            <a:r>
              <a:rPr lang="it">
                <a:solidFill>
                  <a:schemeClr val="dk1"/>
                </a:solidFill>
              </a:rPr>
              <a:t>Remember to support them by comparions/evidences in the experimental part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8" name="Google Shape;12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it"/>
              <a:t>Monk Results 1 (may be more slides, but be schematic)</a:t>
            </a:r>
            <a:endParaRPr/>
          </a:p>
        </p:txBody>
      </p:sp>
      <p:sp>
        <p:nvSpPr>
          <p:cNvPr id="134" name="Google Shape;134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8600" lvl="0" marL="584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it" sz="1100">
                <a:solidFill>
                  <a:schemeClr val="dk1"/>
                </a:solidFill>
              </a:rPr>
              <a:t>-</a:t>
            </a:r>
            <a:r>
              <a:rPr lang="it" sz="700">
                <a:solidFill>
                  <a:schemeClr val="dk1"/>
                </a:solidFill>
              </a:rPr>
              <a:t>      </a:t>
            </a:r>
            <a:r>
              <a:rPr lang="it" sz="1400">
                <a:solidFill>
                  <a:schemeClr val="dk1"/>
                </a:solidFill>
              </a:rPr>
              <a:t> Performance (see Table 1) and learning curves (MSE and accuracy plots for the 3 MONK’s tasks, see the next slide as an example of schema filled with the plot for the MONK2)</a:t>
            </a:r>
            <a:endParaRPr sz="1400">
              <a:solidFill>
                <a:schemeClr val="dk1"/>
              </a:solidFill>
            </a:endParaRPr>
          </a:p>
          <a:p>
            <a:pPr indent="-228600" lvl="0" marL="584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400">
                <a:solidFill>
                  <a:schemeClr val="dk1"/>
                </a:solidFill>
              </a:rPr>
              <a:t>-    Used hyper-parameters </a:t>
            </a:r>
            <a:r>
              <a:rPr lang="it" sz="1300">
                <a:solidFill>
                  <a:schemeClr val="dk1"/>
                </a:solidFill>
              </a:rPr>
              <a:t>(including activation functions), please use the notation used in the course and not the notations of libraries etc, or you have to explain  (prj B)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35" name="Google Shape;13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400" y="2653473"/>
            <a:ext cx="6739200" cy="173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it"/>
              <a:t>Monk Results 2 (may be more slides, but be schematic)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42" name="Google Shape;142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43" name="Google Shape;14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9575" y="1152475"/>
            <a:ext cx="6031974" cy="3601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t"/>
              <a:t>CUP Validation schema: data splitting</a:t>
            </a:r>
            <a:endParaRPr/>
          </a:p>
        </p:txBody>
      </p:sp>
      <p:sp>
        <p:nvSpPr>
          <p:cNvPr id="150" name="Google Shape;150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it">
                <a:solidFill>
                  <a:schemeClr val="dk1"/>
                </a:solidFill>
              </a:rPr>
              <a:t>Typically the points 1-2 of the section 3.2 o</a:t>
            </a:r>
            <a:r>
              <a:rPr lang="it"/>
              <a:t>f </a:t>
            </a:r>
            <a:r>
              <a:rPr lang="it">
                <a:solidFill>
                  <a:schemeClr val="dk1"/>
                </a:solidFill>
              </a:rPr>
              <a:t>file “ML-25-Report-info-...”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it">
                <a:solidFill>
                  <a:schemeClr val="dk1"/>
                </a:solidFill>
              </a:rPr>
              <a:t>Which schema have you used for model selection and model assessment?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it">
                <a:solidFill>
                  <a:schemeClr val="dk1"/>
                </a:solidFill>
              </a:rPr>
              <a:t>Validation schema can be easily reported in a graphical form, e.g.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br>
              <a:rPr lang="it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it">
                <a:solidFill>
                  <a:schemeClr val="dk1"/>
                </a:solidFill>
              </a:rPr>
              <a:t>Have you a final retraining?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1" name="Google Shape;151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52" name="Google Shape;15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3050" y="2333500"/>
            <a:ext cx="4424625" cy="62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it"/>
              <a:t>CUP Validation schema: model selection</a:t>
            </a:r>
            <a:endParaRPr/>
          </a:p>
        </p:txBody>
      </p:sp>
      <p:sp>
        <p:nvSpPr>
          <p:cNvPr id="158" name="Google Shape;158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it">
                <a:solidFill>
                  <a:schemeClr val="dk1"/>
                </a:solidFill>
              </a:rPr>
              <a:t>Typically the points 2-3 of the section 3.2 o</a:t>
            </a:r>
            <a:r>
              <a:rPr lang="it"/>
              <a:t>f </a:t>
            </a:r>
            <a:r>
              <a:rPr lang="it">
                <a:solidFill>
                  <a:schemeClr val="dk1"/>
                </a:solidFill>
              </a:rPr>
              <a:t>file “ML-25-Report-info-...”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it">
                <a:solidFill>
                  <a:schemeClr val="dk1"/>
                </a:solidFill>
              </a:rPr>
              <a:t>Schema and range of explored hyper-parameters (values used for the grid search, possibly table/tables): </a:t>
            </a:r>
            <a:r>
              <a:rPr lang="it" sz="1600">
                <a:solidFill>
                  <a:schemeClr val="dk1"/>
                </a:solidFill>
              </a:rPr>
              <a:t>see the file “ML-25-Report-info-...” and also the </a:t>
            </a:r>
            <a:r>
              <a:rPr i="1" lang="it" sz="1600">
                <a:solidFill>
                  <a:schemeClr val="dk1"/>
                </a:solidFill>
              </a:rPr>
              <a:t>check list</a:t>
            </a:r>
            <a:r>
              <a:rPr lang="it" sz="1600">
                <a:solidFill>
                  <a:schemeClr val="dk1"/>
                </a:solidFill>
              </a:rPr>
              <a:t> note on the “Model selection”, for the CUP application</a:t>
            </a:r>
            <a:endParaRPr sz="16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it" sz="1400">
                <a:solidFill>
                  <a:schemeClr val="dk1"/>
                </a:solidFill>
              </a:rPr>
              <a:t>The synthesis of the hyperparameters setting must be reported on the slides, while a complete description can be inserted in a document within the code package (call it “hyperparameters-setting”) and in the Appendix slides (selecting what is more relevant).  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59" name="Google Shape;15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t"/>
              <a:t>CUP Results (many slides are possible)</a:t>
            </a:r>
            <a:endParaRPr/>
          </a:p>
        </p:txBody>
      </p:sp>
      <p:sp>
        <p:nvSpPr>
          <p:cNvPr id="165" name="Google Shape;165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it">
                <a:solidFill>
                  <a:schemeClr val="dk1"/>
                </a:solidFill>
              </a:rPr>
              <a:t>Typically the points 4-9 of the section 3.2 o</a:t>
            </a:r>
            <a:r>
              <a:rPr lang="it"/>
              <a:t>f </a:t>
            </a:r>
            <a:r>
              <a:rPr lang="it">
                <a:solidFill>
                  <a:schemeClr val="dk1"/>
                </a:solidFill>
              </a:rPr>
              <a:t>file “ML-25-Report-info-...”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it">
                <a:solidFill>
                  <a:schemeClr val="dk1"/>
                </a:solidFill>
              </a:rPr>
              <a:t>In particular, do not forget:</a:t>
            </a:r>
            <a:endParaRPr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it" sz="1500">
                <a:solidFill>
                  <a:schemeClr val="dk1"/>
                </a:solidFill>
              </a:rPr>
              <a:t>to describe “</a:t>
            </a:r>
            <a:r>
              <a:rPr b="1" lang="it" sz="1500">
                <a:solidFill>
                  <a:schemeClr val="dk1"/>
                </a:solidFill>
              </a:rPr>
              <a:t>your path</a:t>
            </a:r>
            <a:r>
              <a:rPr lang="it" sz="1500">
                <a:solidFill>
                  <a:schemeClr val="dk1"/>
                </a:solidFill>
              </a:rPr>
              <a:t>” to reach your final model, i.e. the relevant choices that you made and the rational of that choices  (selecting the relevant decisions &amp; aspects that deserve to be described  according to your feeling)</a:t>
            </a:r>
            <a:endParaRPr sz="15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it" sz="1500">
                <a:solidFill>
                  <a:schemeClr val="dk1"/>
                </a:solidFill>
              </a:rPr>
              <a:t>to specify </a:t>
            </a:r>
            <a:r>
              <a:rPr b="1" lang="it" sz="1500">
                <a:solidFill>
                  <a:schemeClr val="dk1"/>
                </a:solidFill>
              </a:rPr>
              <a:t>how </a:t>
            </a:r>
            <a:r>
              <a:rPr lang="it" sz="1500">
                <a:solidFill>
                  <a:schemeClr val="dk1"/>
                </a:solidFill>
              </a:rPr>
              <a:t>you selected the </a:t>
            </a:r>
            <a:r>
              <a:rPr b="1" lang="it" sz="1500">
                <a:solidFill>
                  <a:schemeClr val="dk1"/>
                </a:solidFill>
              </a:rPr>
              <a:t>FINAL model </a:t>
            </a:r>
            <a:r>
              <a:rPr lang="it" sz="1500">
                <a:solidFill>
                  <a:schemeClr val="dk1"/>
                </a:solidFill>
              </a:rPr>
              <a:t>(used on the blind test set). Which is it among the candidates and why? Also write the  hyper-parameters of the final model 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it" sz="1500">
                <a:solidFill>
                  <a:schemeClr val="dk1"/>
                </a:solidFill>
              </a:rPr>
              <a:t>to report for the FINAL model used on the blind test set the </a:t>
            </a:r>
            <a:r>
              <a:rPr b="1" lang="it" sz="1500">
                <a:solidFill>
                  <a:schemeClr val="dk1"/>
                </a:solidFill>
              </a:rPr>
              <a:t>TABLE with MEE for TR (training), VL (validation) and TS (internal TS)  in the original scale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it" sz="1500">
                <a:solidFill>
                  <a:schemeClr val="dk1"/>
                </a:solidFill>
              </a:rPr>
              <a:t>to report the </a:t>
            </a:r>
            <a:r>
              <a:rPr b="1" lang="it" sz="1500">
                <a:solidFill>
                  <a:schemeClr val="dk1"/>
                </a:solidFill>
              </a:rPr>
              <a:t>plot of the learning curve of the final model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66" name="Google Shape;166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t"/>
              <a:t>Discussion (may be more slides)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72" name="Google Shape;172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it">
                <a:solidFill>
                  <a:schemeClr val="dk1"/>
                </a:solidFill>
              </a:rPr>
              <a:t>Discuss/analyze </a:t>
            </a:r>
            <a:r>
              <a:rPr lang="it">
                <a:solidFill>
                  <a:schemeClr val="dk1"/>
                </a:solidFill>
              </a:rPr>
              <a:t>whether any proposed techniques or novelties improved or not the results, in terms of any performance (efficacy, efficiency, …)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1"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Don’t forget to empathize the novelties</a:t>
            </a: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that you introduced in your model (prj A or B) or used advanced techniques (prj B) w.r.t. to the results and/or any significant/critical analyses and any interesting finding/insight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I.e: </a:t>
            </a:r>
            <a:r>
              <a:rPr b="1"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don’t forget a </a:t>
            </a: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b="1"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Discussion/Analysis</a:t>
            </a: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 of interesting findings/insights,</a:t>
            </a:r>
            <a:r>
              <a:rPr lang="it" sz="1400"/>
              <a:t> </a:t>
            </a: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answering “</a:t>
            </a:r>
            <a:r>
              <a:rPr i="1"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did you learn?” </a:t>
            </a: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the Models/Hyperparameters/Results/Efficacy/Efficiency, selecting/highlighting what is more significant in your opinion (time and space constraints helps to select!)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concrete measured </a:t>
            </a:r>
            <a:r>
              <a:rPr b="1"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evidences</a:t>
            </a: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(numerical or graphical)  to support your conclusions (as for any </a:t>
            </a:r>
            <a:r>
              <a:rPr i="1"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scientific</a:t>
            </a: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report)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t"/>
              <a:t>Conclusions</a:t>
            </a:r>
            <a:endParaRPr/>
          </a:p>
        </p:txBody>
      </p:sp>
      <p:sp>
        <p:nvSpPr>
          <p:cNvPr id="179" name="Google Shape;179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What you have drawn and what you learned (in short)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Blind Test Results: name of the result files and your nickname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0" name="Google Shape;180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t"/>
              <a:t>Bibliography </a:t>
            </a:r>
            <a:endParaRPr/>
          </a:p>
        </p:txBody>
      </p:sp>
      <p:sp>
        <p:nvSpPr>
          <p:cNvPr id="186" name="Google Shape;186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See the section References o</a:t>
            </a:r>
            <a:r>
              <a:rPr lang="it"/>
              <a:t>f the </a:t>
            </a:r>
            <a:r>
              <a:rPr lang="it">
                <a:solidFill>
                  <a:schemeClr val="dk1"/>
                </a:solidFill>
              </a:rPr>
              <a:t>file “ML-25-Report-info-...”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87" name="Google Shape;187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7"/>
          <p:cNvSpPr txBox="1"/>
          <p:nvPr>
            <p:ph type="title"/>
          </p:nvPr>
        </p:nvSpPr>
        <p:spPr>
          <a:xfrm>
            <a:off x="311700" y="445025"/>
            <a:ext cx="8520600" cy="8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t"/>
              <a:t>Appendix - not shown in the time slot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72992"/>
              <a:buNone/>
            </a:pPr>
            <a:r>
              <a:rPr lang="it"/>
              <a:t> </a:t>
            </a:r>
            <a:r>
              <a:rPr lang="it" sz="2244"/>
              <a:t>(may be many slides, but still use a reasonable number) </a:t>
            </a:r>
            <a:endParaRPr sz="2244"/>
          </a:p>
        </p:txBody>
      </p:sp>
      <p:sp>
        <p:nvSpPr>
          <p:cNvPr id="193" name="Google Shape;193;p37"/>
          <p:cNvSpPr txBox="1"/>
          <p:nvPr>
            <p:ph idx="1" type="body"/>
          </p:nvPr>
        </p:nvSpPr>
        <p:spPr>
          <a:xfrm>
            <a:off x="344050" y="1468650"/>
            <a:ext cx="85206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it"/>
              <a:t>Material that is complementary to your presentation, but not directly presented: </a:t>
            </a:r>
            <a:r>
              <a:rPr lang="it" sz="1100">
                <a:solidFill>
                  <a:schemeClr val="dk1"/>
                </a:solidFill>
              </a:rPr>
              <a:t>·</a:t>
            </a:r>
            <a:r>
              <a:rPr lang="it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lang="it" sz="1100">
                <a:solidFill>
                  <a:schemeClr val="dk1"/>
                </a:solidFill>
              </a:rPr>
              <a:t>Use appendix for large or other tables or plots (if needed); the slides out of the limit will be not necessarily read and therefore not necessarily evaluated!!!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it"/>
              <a:t>Can be used to answer some questions during the oral discussion of the project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it"/>
              <a:t>In the appendix you can use a smaller font (although readable. e.g. ≥11) and even smaller for tables </a:t>
            </a:r>
            <a:endParaRPr/>
          </a:p>
        </p:txBody>
      </p:sp>
      <p:sp>
        <p:nvSpPr>
          <p:cNvPr id="194" name="Google Shape;194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